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2" autoAdjust="0"/>
    <p:restoredTop sz="94682"/>
  </p:normalViewPr>
  <p:slideViewPr>
    <p:cSldViewPr snapToGrid="0" showGuides="1">
      <p:cViewPr>
        <p:scale>
          <a:sx n="125" d="100"/>
          <a:sy n="125" d="100"/>
        </p:scale>
        <p:origin x="762" y="-3108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548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8779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700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46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971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148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008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2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163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493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98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35E54-2A4B-4CD0-9488-F8D5DEC3B8E4}" type="datetimeFigureOut">
              <a:rPr lang="en-US" smtClean="0"/>
              <a:t>7/16/2025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E23FE4-E4CE-4C11-A4DD-B8B389B3DC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9999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B456F7-5A43-8C14-198E-960A800656D0}"/>
              </a:ext>
            </a:extLst>
          </p:cNvPr>
          <p:cNvSpPr/>
          <p:nvPr/>
        </p:nvSpPr>
        <p:spPr>
          <a:xfrm>
            <a:off x="490669" y="1018870"/>
            <a:ext cx="144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Prepare solvated solute box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49BFAE7-4230-92F3-9A21-889F6617EC3C}"/>
              </a:ext>
            </a:extLst>
          </p:cNvPr>
          <p:cNvSpPr/>
          <p:nvPr/>
        </p:nvSpPr>
        <p:spPr>
          <a:xfrm>
            <a:off x="490669" y="2573166"/>
            <a:ext cx="144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Run restrained MD simulation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D315E4-D979-FA0C-C52F-44E4D4E02288}"/>
              </a:ext>
            </a:extLst>
          </p:cNvPr>
          <p:cNvSpPr/>
          <p:nvPr/>
        </p:nvSpPr>
        <p:spPr>
          <a:xfrm>
            <a:off x="2650669" y="1018870"/>
            <a:ext cx="1440000" cy="540000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Neat solvent box for accurate referencing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37F176A-526D-FEA3-2312-2D94E1F8613A}"/>
              </a:ext>
            </a:extLst>
          </p:cNvPr>
          <p:cNvSpPr/>
          <p:nvPr/>
        </p:nvSpPr>
        <p:spPr>
          <a:xfrm>
            <a:off x="2650669" y="2573166"/>
            <a:ext cx="1440000" cy="540000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Run unrestrained MD simulation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0B9B6C-DA35-8AE9-48CC-2D09C2D2CFE0}"/>
                  </a:ext>
                </a:extLst>
              </p:cNvPr>
              <p:cNvSpPr txBox="1"/>
              <p:nvPr/>
            </p:nvSpPr>
            <p:spPr>
              <a:xfrm>
                <a:off x="4752848" y="0"/>
                <a:ext cx="2096500" cy="849463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200" b="1" noProof="0" dirty="0"/>
                  <a:t>1. MD Simulation</a:t>
                </a:r>
                <a:endParaRPr lang="en-US" sz="12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Add missing atoms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Check protonation states</a:t>
                </a:r>
              </a:p>
              <a:p>
                <a:br>
                  <a:rPr lang="en-US" sz="1200" noProof="0" dirty="0"/>
                </a:br>
                <a:endParaRPr lang="en-US" sz="12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Select force field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Add solvent </a:t>
                </a:r>
                <a:br>
                  <a:rPr lang="en-US" sz="1200" noProof="0" dirty="0"/>
                </a:br>
                <a:r>
                  <a:rPr lang="en-US" sz="1000" noProof="0" dirty="0"/>
                  <a:t>At least 10-15Å buffer or </a:t>
                </a:r>
                <a:br>
                  <a:rPr lang="en-US" sz="1000" noProof="0" dirty="0"/>
                </a:br>
                <a:r>
                  <a:rPr lang="en-US" sz="1000" noProof="0" dirty="0"/>
                  <a:t>3 solvation layers depending on solvent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Optional: create neat solvent box and determine NN entropy bias</a:t>
                </a:r>
              </a:p>
              <a:p>
                <a:br>
                  <a:rPr lang="en-US" sz="1200" noProof="0" dirty="0"/>
                </a:br>
                <a:endParaRPr lang="en-US" sz="12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Restrain heavy atoms for solute simulation </a:t>
                </a:r>
                <a:br>
                  <a:rPr lang="en-US" sz="1200" noProof="0" dirty="0"/>
                </a:br>
                <a:r>
                  <a:rPr lang="en-US" sz="1000" noProof="0" dirty="0"/>
                  <a:t>Harmonic restraint potential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000" b="0" i="0" noProof="0" smtClean="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br>
                  <a:rPr lang="en-US" sz="1000" noProof="0" dirty="0"/>
                </a:br>
                <a:r>
                  <a:rPr lang="en-US" sz="1000" noProof="0" dirty="0"/>
                  <a:t>with k</a:t>
                </a:r>
                <a:r>
                  <a:rPr lang="en-US" sz="1000" baseline="-25000" noProof="0" dirty="0"/>
                  <a:t>r</a:t>
                </a:r>
                <a:r>
                  <a:rPr lang="en-US" sz="1000" noProof="0" dirty="0"/>
                  <a:t> =10 - 100 kcal mol</a:t>
                </a:r>
                <a:r>
                  <a:rPr lang="en-US" sz="1000" baseline="30000" noProof="0" dirty="0"/>
                  <a:t>-1</a:t>
                </a:r>
                <a:r>
                  <a:rPr lang="en-US" sz="1000" noProof="0" dirty="0"/>
                  <a:t> Å</a:t>
                </a:r>
                <a:r>
                  <a:rPr lang="en-US" sz="1000" baseline="30000" noProof="0" dirty="0"/>
                  <a:t>-2</a:t>
                </a:r>
                <a:endParaRPr lang="en-US" sz="10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Run simulation</a:t>
                </a:r>
                <a:br>
                  <a:rPr lang="en-US" sz="1200" noProof="0" dirty="0"/>
                </a:br>
                <a:r>
                  <a:rPr lang="en-US" sz="1000" noProof="0" dirty="0"/>
                  <a:t>≥10 ns (100 ns ideal)</a:t>
                </a:r>
                <a:br>
                  <a:rPr lang="en-US" sz="1000" noProof="0" dirty="0"/>
                </a:br>
                <a:r>
                  <a:rPr lang="en-US" sz="1000" noProof="0" dirty="0"/>
                  <a:t>≥ 10 000 frames (100 000 ideal)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Confirm rigidity of solute heavy atoms:  Suggested RMSD </a:t>
                </a:r>
                <a:r>
                  <a:rPr lang="en-US" sz="1000" noProof="0" dirty="0"/>
                  <a:t>≤ 0.1Å</a:t>
                </a:r>
                <a:br>
                  <a:rPr lang="en-US" sz="1000" noProof="0" dirty="0"/>
                </a:br>
                <a:endParaRPr lang="en-US" sz="1000" noProof="0" dirty="0"/>
              </a:p>
              <a:p>
                <a:r>
                  <a:rPr lang="en-US" sz="1200" b="1" noProof="0" dirty="0"/>
                  <a:t>2. Prepare GIST settings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Determine reference water density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noProof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sz="1200" b="1" noProof="0" dirty="0"/>
                </a:br>
                <a:r>
                  <a:rPr lang="en-US" sz="1000" noProof="0" dirty="0"/>
                  <a:t>Calculate reference from neat simulation or use tabulated value for the solvent model.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Determine grid size</a:t>
                </a:r>
                <a:br>
                  <a:rPr lang="en-US" sz="1200" noProof="0" dirty="0"/>
                </a:br>
                <a:r>
                  <a:rPr lang="en-US" sz="1200" noProof="0" dirty="0"/>
                  <a:t>a) binding site                       b) full system                        c) 10 </a:t>
                </a:r>
                <a:r>
                  <a:rPr lang="en-US" sz="1000" noProof="0" dirty="0"/>
                  <a:t>Å around region of interest 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Determine voxel number</a:t>
                </a:r>
                <a:br>
                  <a:rPr lang="en-US" sz="1200" noProof="0" dirty="0"/>
                </a:br>
                <a:r>
                  <a:rPr lang="en-US" sz="1000" noProof="0" dirty="0"/>
                  <a:t>For each cartesian direction, the number of voxels necessary is the length of the region of interest divided by the voxel side length (0.5 Å ).</a:t>
                </a:r>
              </a:p>
              <a:p>
                <a:endParaRPr lang="en-US" sz="1200" noProof="0" dirty="0"/>
              </a:p>
              <a:p>
                <a:endParaRPr lang="en-US" sz="1200" b="1" noProof="0" dirty="0"/>
              </a:p>
              <a:p>
                <a:r>
                  <a:rPr lang="en-US" sz="1200" b="1" noProof="0" dirty="0"/>
                  <a:t>3. Run GIST in cpptraj</a:t>
                </a:r>
                <a:br>
                  <a:rPr lang="en-US" sz="1000" b="0" i="0" u="none" strike="noStrike" baseline="0" noProof="0" dirty="0">
                    <a:latin typeface="LMMono8-Regular"/>
                  </a:rPr>
                </a:br>
                <a:endParaRPr lang="en-US" sz="800" noProof="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0B9B6C-DA35-8AE9-48CC-2D09C2D2C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2848" y="0"/>
                <a:ext cx="2096500" cy="8494633"/>
              </a:xfrm>
              <a:prstGeom prst="rect">
                <a:avLst/>
              </a:prstGeom>
              <a:blipFill>
                <a:blip r:embed="rId2"/>
                <a:stretch>
                  <a:fillRect l="-291" r="-11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E05A04F-4352-03EC-817D-E14AF85D274A}"/>
              </a:ext>
            </a:extLst>
          </p:cNvPr>
          <p:cNvSpPr/>
          <p:nvPr/>
        </p:nvSpPr>
        <p:spPr>
          <a:xfrm>
            <a:off x="490669" y="6508338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Define region of interest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2FB0CA8-35D9-B484-B1F0-0EC62D71D4E1}"/>
              </a:ext>
            </a:extLst>
          </p:cNvPr>
          <p:cNvSpPr/>
          <p:nvPr/>
        </p:nvSpPr>
        <p:spPr>
          <a:xfrm>
            <a:off x="2650669" y="6498944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Calculate number of voxels necessary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4A7BB6-EC27-15FF-9D9A-6C1139E044B3}"/>
              </a:ext>
            </a:extLst>
          </p:cNvPr>
          <p:cNvSpPr/>
          <p:nvPr/>
        </p:nvSpPr>
        <p:spPr>
          <a:xfrm>
            <a:off x="490669" y="4127462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Reimage and center MD trajectory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97CC11-5386-BEF7-E0CD-36C125D811E9}"/>
              </a:ext>
            </a:extLst>
          </p:cNvPr>
          <p:cNvSpPr/>
          <p:nvPr/>
        </p:nvSpPr>
        <p:spPr>
          <a:xfrm>
            <a:off x="2650669" y="7342294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Set voxel number per axis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F5115C75-44E3-0118-DFD9-2F979AD541AE}"/>
                  </a:ext>
                </a:extLst>
              </p:cNvPr>
              <p:cNvSpPr/>
              <p:nvPr/>
            </p:nvSpPr>
            <p:spPr>
              <a:xfrm>
                <a:off x="2650669" y="4127462"/>
                <a:ext cx="1440000" cy="564716"/>
              </a:xfrm>
              <a:prstGeom prst="roundRect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noProof="0" dirty="0"/>
                  <a:t>Calculate reference density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noProof="0" dirty="0"/>
                  <a:t> of neat solvent</a:t>
                </a:r>
              </a:p>
            </p:txBody>
          </p:sp>
        </mc:Choice>
        <mc:Fallback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F5115C75-44E3-0118-DFD9-2F979AD541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669" y="4127462"/>
                <a:ext cx="1440000" cy="564716"/>
              </a:xfrm>
              <a:prstGeom prst="roundRect">
                <a:avLst/>
              </a:prstGeom>
              <a:blipFill>
                <a:blip r:embed="rId3"/>
                <a:stretch>
                  <a:fillRect b="-2083"/>
                </a:stretch>
              </a:blipFill>
              <a:ln>
                <a:prstDash val="sys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63D4017-AA3A-2EE5-7453-5A53A0D86211}"/>
              </a:ext>
            </a:extLst>
          </p:cNvPr>
          <p:cNvSpPr/>
          <p:nvPr/>
        </p:nvSpPr>
        <p:spPr>
          <a:xfrm>
            <a:off x="1570668" y="8182076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Run GIST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EA548DB-1487-FF1C-5B70-53608DFB6A84}"/>
              </a:ext>
            </a:extLst>
          </p:cNvPr>
          <p:cNvSpPr/>
          <p:nvPr/>
        </p:nvSpPr>
        <p:spPr>
          <a:xfrm>
            <a:off x="490669" y="241722"/>
            <a:ext cx="144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Prepare solute structure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FF9825D-1C00-AC7D-1E5C-10E962CBB7A6}"/>
              </a:ext>
            </a:extLst>
          </p:cNvPr>
          <p:cNvCxnSpPr>
            <a:cxnSpLocks/>
          </p:cNvCxnSpPr>
          <p:nvPr/>
        </p:nvCxnSpPr>
        <p:spPr>
          <a:xfrm>
            <a:off x="4766375" y="30480"/>
            <a:ext cx="8651" cy="10101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768FD96-0DED-B5C6-975B-571CF93F22A7}"/>
              </a:ext>
            </a:extLst>
          </p:cNvPr>
          <p:cNvCxnSpPr>
            <a:stCxn id="3" idx="2"/>
            <a:endCxn id="6" idx="0"/>
          </p:cNvCxnSpPr>
          <p:nvPr/>
        </p:nvCxnSpPr>
        <p:spPr>
          <a:xfrm>
            <a:off x="1210669" y="781722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79CEBA2-6AA6-AFD9-6942-F24F18840DB2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1930669" y="1288870"/>
            <a:ext cx="72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CDEEE08-E695-A8E5-9F89-28C86DAF1ABF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1210669" y="1558870"/>
            <a:ext cx="0" cy="1014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B974724-F86C-7793-AF03-45BAC74A2336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3370669" y="1558870"/>
            <a:ext cx="0" cy="101429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lowchart: Data 31">
            <a:extLst>
              <a:ext uri="{FF2B5EF4-FFF2-40B4-BE49-F238E27FC236}">
                <a16:creationId xmlns:a16="http://schemas.microsoft.com/office/drawing/2014/main" id="{EAE77256-4ADC-DB45-FD0F-47527F2B81AE}"/>
              </a:ext>
            </a:extLst>
          </p:cNvPr>
          <p:cNvSpPr/>
          <p:nvPr/>
        </p:nvSpPr>
        <p:spPr>
          <a:xfrm>
            <a:off x="490669" y="3350314"/>
            <a:ext cx="1440000" cy="5400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Solute Trajectory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BEBCB087-2452-6740-BAAF-560943A9825E}"/>
                  </a:ext>
                </a:extLst>
              </p:cNvPr>
              <p:cNvSpPr/>
              <p:nvPr/>
            </p:nvSpPr>
            <p:spPr>
              <a:xfrm>
                <a:off x="2650669" y="4929326"/>
                <a:ext cx="1440000" cy="564716"/>
              </a:xfrm>
              <a:prstGeom prst="roundRect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noProof="0" dirty="0"/>
                  <a:t>Calculate reference water-water energy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𝑤𝑤</m:t>
                        </m:r>
                      </m:sub>
                    </m:sSub>
                  </m:oMath>
                </a14:m>
                <a:endParaRPr lang="en-US" sz="1000" noProof="0" dirty="0"/>
              </a:p>
            </p:txBody>
          </p:sp>
        </mc:Choice>
        <mc:Fallback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BEBCB087-2452-6740-BAAF-560943A982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669" y="4929326"/>
                <a:ext cx="1440000" cy="5647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prstDash val="sys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Parallelogram 36">
            <a:extLst>
              <a:ext uri="{FF2B5EF4-FFF2-40B4-BE49-F238E27FC236}">
                <a16:creationId xmlns:a16="http://schemas.microsoft.com/office/drawing/2014/main" id="{E18543A5-0AC0-2DA7-E9C1-70091EC56271}"/>
              </a:ext>
            </a:extLst>
          </p:cNvPr>
          <p:cNvSpPr/>
          <p:nvPr/>
        </p:nvSpPr>
        <p:spPr>
          <a:xfrm>
            <a:off x="1570668" y="9125894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gist.dat</a:t>
            </a:r>
          </a:p>
        </p:txBody>
      </p:sp>
      <p:sp>
        <p:nvSpPr>
          <p:cNvPr id="38" name="Flowchart: Data 37">
            <a:extLst>
              <a:ext uri="{FF2B5EF4-FFF2-40B4-BE49-F238E27FC236}">
                <a16:creationId xmlns:a16="http://schemas.microsoft.com/office/drawing/2014/main" id="{010020FC-8D4F-9548-CE2B-FE9FBDFA2379}"/>
              </a:ext>
            </a:extLst>
          </p:cNvPr>
          <p:cNvSpPr/>
          <p:nvPr/>
        </p:nvSpPr>
        <p:spPr>
          <a:xfrm>
            <a:off x="2650669" y="3350314"/>
            <a:ext cx="1440000" cy="540000"/>
          </a:xfrm>
          <a:prstGeom prst="flowChartInputOutput">
            <a:avLst/>
          </a:prstGeom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Neat Solvent Trajectory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C25CABD-3555-D0DC-1374-343917BC7FDC}"/>
              </a:ext>
            </a:extLst>
          </p:cNvPr>
          <p:cNvSpPr/>
          <p:nvPr/>
        </p:nvSpPr>
        <p:spPr>
          <a:xfrm>
            <a:off x="490669" y="1796018"/>
            <a:ext cx="3600000" cy="540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>
                <a:solidFill>
                  <a:schemeClr val="tx1"/>
                </a:solidFill>
              </a:rPr>
              <a:t>Minimization &amp; Equilibration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80AED0E-4E20-AE12-611D-98CC6C1F0D5E}"/>
              </a:ext>
            </a:extLst>
          </p:cNvPr>
          <p:cNvSpPr/>
          <p:nvPr/>
        </p:nvSpPr>
        <p:spPr>
          <a:xfrm>
            <a:off x="490669" y="4929326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Save solute coordinates of first frame</a:t>
            </a:r>
          </a:p>
        </p:txBody>
      </p:sp>
      <p:sp>
        <p:nvSpPr>
          <p:cNvPr id="44" name="Parallelogram 43">
            <a:extLst>
              <a:ext uri="{FF2B5EF4-FFF2-40B4-BE49-F238E27FC236}">
                <a16:creationId xmlns:a16="http://schemas.microsoft.com/office/drawing/2014/main" id="{2F8F4944-EB7C-1175-7C66-44E73FF13E6C}"/>
              </a:ext>
            </a:extLst>
          </p:cNvPr>
          <p:cNvSpPr/>
          <p:nvPr/>
        </p:nvSpPr>
        <p:spPr>
          <a:xfrm>
            <a:off x="490669" y="5730956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gist.pdb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F55191F9-FCE9-EE65-93B2-2CB9BC869552}"/>
                  </a:ext>
                </a:extLst>
              </p:cNvPr>
              <p:cNvSpPr/>
              <p:nvPr/>
            </p:nvSpPr>
            <p:spPr>
              <a:xfrm>
                <a:off x="2650669" y="5730956"/>
                <a:ext cx="1440000" cy="540000"/>
              </a:xfrm>
              <a:prstGeom prst="parallelogram">
                <a:avLst>
                  <a:gd name="adj" fmla="val 38406"/>
                </a:avLst>
              </a:prstGeom>
              <a:ln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b="0" noProof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𝑤𝑤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</m:oMath>
                  </m:oMathPara>
                </a14:m>
                <a:endParaRPr lang="en-US" sz="1200" b="0" noProof="0" dirty="0"/>
              </a:p>
              <a:p>
                <a:pPr algn="ctr"/>
                <a:endParaRPr lang="en-US" sz="1200" noProof="0" dirty="0"/>
              </a:p>
            </p:txBody>
          </p:sp>
        </mc:Choice>
        <mc:Fallback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F55191F9-FCE9-EE65-93B2-2CB9BC869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669" y="5730956"/>
                <a:ext cx="1440000" cy="540000"/>
              </a:xfrm>
              <a:prstGeom prst="parallelogram">
                <a:avLst>
                  <a:gd name="adj" fmla="val 38406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prstDash val="sys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1E836DEE-0C4B-B8E0-7430-A2E5BEDE85C6}"/>
                  </a:ext>
                </a:extLst>
              </p:cNvPr>
              <p:cNvSpPr/>
              <p:nvPr/>
            </p:nvSpPr>
            <p:spPr>
              <a:xfrm>
                <a:off x="1930669" y="5730956"/>
                <a:ext cx="720000" cy="540000"/>
              </a:xfrm>
              <a:prstGeom prst="parallelogram">
                <a:avLst>
                  <a:gd name="adj" fmla="val 38406"/>
                </a:avLst>
              </a:prstGeom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200" b="0" noProof="0" dirty="0"/>
              </a:p>
            </p:txBody>
          </p:sp>
        </mc:Choice>
        <mc:Fallback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1E836DEE-0C4B-B8E0-7430-A2E5BEDE85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669" y="5730956"/>
                <a:ext cx="720000" cy="540000"/>
              </a:xfrm>
              <a:prstGeom prst="parallelogram">
                <a:avLst>
                  <a:gd name="adj" fmla="val 38406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Flowchart: Data 54">
            <a:extLst>
              <a:ext uri="{FF2B5EF4-FFF2-40B4-BE49-F238E27FC236}">
                <a16:creationId xmlns:a16="http://schemas.microsoft.com/office/drawing/2014/main" id="{21D2D277-4C84-2594-CAED-0A547CD75F2A}"/>
              </a:ext>
            </a:extLst>
          </p:cNvPr>
          <p:cNvSpPr/>
          <p:nvPr/>
        </p:nvSpPr>
        <p:spPr>
          <a:xfrm>
            <a:off x="2650669" y="241722"/>
            <a:ext cx="1440000" cy="5400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Solute structure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51F753C-91A5-A442-5E06-CBF05F64ACA1}"/>
              </a:ext>
            </a:extLst>
          </p:cNvPr>
          <p:cNvCxnSpPr>
            <a:stCxn id="8" idx="2"/>
            <a:endCxn id="32" idx="1"/>
          </p:cNvCxnSpPr>
          <p:nvPr/>
        </p:nvCxnSpPr>
        <p:spPr>
          <a:xfrm>
            <a:off x="1210669" y="3113166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5CEBDB7-BD83-5BF1-C775-0AB190720127}"/>
              </a:ext>
            </a:extLst>
          </p:cNvPr>
          <p:cNvCxnSpPr>
            <a:stCxn id="32" idx="4"/>
            <a:endCxn id="17" idx="0"/>
          </p:cNvCxnSpPr>
          <p:nvPr/>
        </p:nvCxnSpPr>
        <p:spPr>
          <a:xfrm>
            <a:off x="1210669" y="3890314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5C22179-FAFF-BFF8-541D-F15CC2D35EC1}"/>
              </a:ext>
            </a:extLst>
          </p:cNvPr>
          <p:cNvCxnSpPr>
            <a:stCxn id="12" idx="2"/>
            <a:endCxn id="38" idx="1"/>
          </p:cNvCxnSpPr>
          <p:nvPr/>
        </p:nvCxnSpPr>
        <p:spPr>
          <a:xfrm>
            <a:off x="3370669" y="3113166"/>
            <a:ext cx="0" cy="23714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98ECEB9-59B9-EBE1-3A68-01D931BB7D93}"/>
              </a:ext>
            </a:extLst>
          </p:cNvPr>
          <p:cNvCxnSpPr>
            <a:stCxn id="38" idx="4"/>
            <a:endCxn id="24" idx="0"/>
          </p:cNvCxnSpPr>
          <p:nvPr/>
        </p:nvCxnSpPr>
        <p:spPr>
          <a:xfrm>
            <a:off x="3370669" y="3890314"/>
            <a:ext cx="0" cy="23714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411ECBD-722F-D474-F976-C01F6E833AEC}"/>
              </a:ext>
            </a:extLst>
          </p:cNvPr>
          <p:cNvCxnSpPr>
            <a:stCxn id="24" idx="2"/>
            <a:endCxn id="36" idx="0"/>
          </p:cNvCxnSpPr>
          <p:nvPr/>
        </p:nvCxnSpPr>
        <p:spPr>
          <a:xfrm>
            <a:off x="3370669" y="4692178"/>
            <a:ext cx="0" cy="23714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75534B6-53DC-7175-8EDB-5415119758A9}"/>
              </a:ext>
            </a:extLst>
          </p:cNvPr>
          <p:cNvCxnSpPr>
            <a:stCxn id="36" idx="2"/>
            <a:endCxn id="45" idx="0"/>
          </p:cNvCxnSpPr>
          <p:nvPr/>
        </p:nvCxnSpPr>
        <p:spPr>
          <a:xfrm>
            <a:off x="3370669" y="5494042"/>
            <a:ext cx="0" cy="23691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57BF77F-DCFE-C71D-1658-E87828DAB160}"/>
              </a:ext>
            </a:extLst>
          </p:cNvPr>
          <p:cNvCxnSpPr>
            <a:stCxn id="17" idx="2"/>
            <a:endCxn id="41" idx="0"/>
          </p:cNvCxnSpPr>
          <p:nvPr/>
        </p:nvCxnSpPr>
        <p:spPr>
          <a:xfrm>
            <a:off x="1210669" y="4692178"/>
            <a:ext cx="0" cy="237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61C2C53-8887-5EC2-1DC9-6B2B512A22F6}"/>
              </a:ext>
            </a:extLst>
          </p:cNvPr>
          <p:cNvCxnSpPr>
            <a:stCxn id="41" idx="2"/>
            <a:endCxn id="44" idx="0"/>
          </p:cNvCxnSpPr>
          <p:nvPr/>
        </p:nvCxnSpPr>
        <p:spPr>
          <a:xfrm>
            <a:off x="1210669" y="5494042"/>
            <a:ext cx="0" cy="236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1F91F29-31B7-FF35-83DA-3F3A457A0BE8}"/>
              </a:ext>
            </a:extLst>
          </p:cNvPr>
          <p:cNvCxnSpPr>
            <a:stCxn id="44" idx="4"/>
            <a:endCxn id="15" idx="0"/>
          </p:cNvCxnSpPr>
          <p:nvPr/>
        </p:nvCxnSpPr>
        <p:spPr>
          <a:xfrm>
            <a:off x="1210669" y="6270956"/>
            <a:ext cx="0" cy="23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059A06A-D8D0-1F05-7C87-B592DE040441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1930669" y="6781302"/>
            <a:ext cx="720000" cy="9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4BC7F56B-9ECB-C9AB-70D7-A7CA54EE9782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>
            <a:off x="3370669" y="7063660"/>
            <a:ext cx="0" cy="278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BC84B64-DBBD-80F2-5C72-53671BD699A7}"/>
              </a:ext>
            </a:extLst>
          </p:cNvPr>
          <p:cNvCxnSpPr>
            <a:cxnSpLocks/>
            <a:stCxn id="46" idx="4"/>
            <a:endCxn id="28" idx="0"/>
          </p:cNvCxnSpPr>
          <p:nvPr/>
        </p:nvCxnSpPr>
        <p:spPr>
          <a:xfrm flipH="1">
            <a:off x="2290668" y="6270956"/>
            <a:ext cx="1" cy="191112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02D4F572-C782-9CA1-4151-DD7977907AAB}"/>
              </a:ext>
            </a:extLst>
          </p:cNvPr>
          <p:cNvCxnSpPr>
            <a:cxnSpLocks/>
            <a:stCxn id="24" idx="1"/>
            <a:endCxn id="46" idx="0"/>
          </p:cNvCxnSpPr>
          <p:nvPr/>
        </p:nvCxnSpPr>
        <p:spPr>
          <a:xfrm rot="10800000" flipV="1">
            <a:off x="2290669" y="4409820"/>
            <a:ext cx="360000" cy="1321136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96EA84-96AA-0F91-A739-D8959D854A35}"/>
              </a:ext>
            </a:extLst>
          </p:cNvPr>
          <p:cNvCxnSpPr>
            <a:cxnSpLocks/>
            <a:stCxn id="55" idx="2"/>
            <a:endCxn id="3" idx="3"/>
          </p:cNvCxnSpPr>
          <p:nvPr/>
        </p:nvCxnSpPr>
        <p:spPr>
          <a:xfrm flipH="1">
            <a:off x="1930669" y="511722"/>
            <a:ext cx="86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80E3DCC-42BC-3F5B-1CC3-A885F295B9C2}"/>
              </a:ext>
            </a:extLst>
          </p:cNvPr>
          <p:cNvSpPr txBox="1"/>
          <p:nvPr/>
        </p:nvSpPr>
        <p:spPr>
          <a:xfrm>
            <a:off x="1806579" y="1074518"/>
            <a:ext cx="9681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noProof="0" dirty="0"/>
              <a:t>Optional</a:t>
            </a:r>
          </a:p>
          <a:p>
            <a:pPr algn="ctr"/>
            <a:endParaRPr lang="en-US" sz="800" b="1" noProof="0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5626240-1033-1EE3-1CB3-2642B13D67D7}"/>
              </a:ext>
            </a:extLst>
          </p:cNvPr>
          <p:cNvSpPr/>
          <p:nvPr/>
        </p:nvSpPr>
        <p:spPr>
          <a:xfrm>
            <a:off x="497432" y="7342294"/>
            <a:ext cx="1440000" cy="5647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Define grid center if solute/region is not centered on origin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6F2B9CC-E84D-BA6D-A5BA-996659E429F9}"/>
              </a:ext>
            </a:extLst>
          </p:cNvPr>
          <p:cNvCxnSpPr>
            <a:cxnSpLocks/>
            <a:stCxn id="15" idx="2"/>
            <a:endCxn id="80" idx="0"/>
          </p:cNvCxnSpPr>
          <p:nvPr/>
        </p:nvCxnSpPr>
        <p:spPr>
          <a:xfrm>
            <a:off x="1210669" y="7073054"/>
            <a:ext cx="6763" cy="26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12ED6CC4-1A35-1BA7-5382-EB3CE617C9F2}"/>
              </a:ext>
            </a:extLst>
          </p:cNvPr>
          <p:cNvCxnSpPr>
            <a:stCxn id="80" idx="2"/>
            <a:endCxn id="28" idx="1"/>
          </p:cNvCxnSpPr>
          <p:nvPr/>
        </p:nvCxnSpPr>
        <p:spPr>
          <a:xfrm rot="16200000" flipH="1">
            <a:off x="1115338" y="8009104"/>
            <a:ext cx="557424" cy="3532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217E64E2-2EC8-AC93-69B2-94753E013A42}"/>
              </a:ext>
            </a:extLst>
          </p:cNvPr>
          <p:cNvCxnSpPr>
            <a:cxnSpLocks/>
            <a:stCxn id="18" idx="2"/>
            <a:endCxn id="28" idx="3"/>
          </p:cNvCxnSpPr>
          <p:nvPr/>
        </p:nvCxnSpPr>
        <p:spPr>
          <a:xfrm rot="5400000">
            <a:off x="2911957" y="8005722"/>
            <a:ext cx="557424" cy="3600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E3AEDF17-14E7-6747-5161-A7E03128A8F6}"/>
              </a:ext>
            </a:extLst>
          </p:cNvPr>
          <p:cNvCxnSpPr>
            <a:cxnSpLocks/>
            <a:stCxn id="28" idx="2"/>
            <a:endCxn id="37" idx="0"/>
          </p:cNvCxnSpPr>
          <p:nvPr/>
        </p:nvCxnSpPr>
        <p:spPr>
          <a:xfrm>
            <a:off x="2290668" y="8746792"/>
            <a:ext cx="0" cy="379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86A3D53-BD3B-6B4B-0CA2-A572213197E1}"/>
              </a:ext>
            </a:extLst>
          </p:cNvPr>
          <p:cNvSpPr txBox="1"/>
          <p:nvPr/>
        </p:nvSpPr>
        <p:spPr>
          <a:xfrm>
            <a:off x="-3952068" y="21697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3261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05BFC50-3436-2A45-2879-285D74C3644B}"/>
                  </a:ext>
                </a:extLst>
              </p:cNvPr>
              <p:cNvSpPr txBox="1"/>
              <p:nvPr/>
            </p:nvSpPr>
            <p:spPr>
              <a:xfrm>
                <a:off x="4656316" y="764495"/>
                <a:ext cx="2208520" cy="7536871"/>
              </a:xfrm>
              <a:prstGeom prst="rect">
                <a:avLst/>
              </a:prstGeom>
              <a:noFill/>
              <a:ln>
                <a:noFill/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1" noProof="0" dirty="0"/>
                  <a:t>4a. Postprocess &amp; Analysis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</m:oMath>
                </a14:m>
                <a:br>
                  <a:rPr lang="en-US" sz="1200" noProof="0" dirty="0"/>
                </a:br>
                <a:r>
                  <a:rPr lang="en-US" sz="1000" noProof="0" dirty="0"/>
                  <a:t>Use tabulated value, calculate from reference simulation or auto-reference from outer grid voxels, if the grid is large enough (&gt; 3 solvent layers)</a:t>
                </a:r>
                <a:br>
                  <a:rPr lang="en-US" sz="1000" noProof="0" dirty="0"/>
                </a:br>
                <a:endParaRPr lang="en-US" sz="10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Load gist.dat with gisttools</a:t>
                </a:r>
                <a:br>
                  <a:rPr lang="en-US" sz="1000" dirty="0"/>
                </a:br>
                <a:r>
                  <a:rPr lang="en-US" sz="1000" dirty="0"/>
                  <a:t>A pdb structure of the solute without water is necessary for this. Preset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00" i="1"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sz="10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000" i="1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en-US" sz="1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noProof="0" dirty="0"/>
                  <a:t>or use the auto-referencing. 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Check convergence of thermodynamic properties – integrated values should approach a fixed value with distance from the region of interest (see Figure 4)</a:t>
                </a:r>
                <a:br>
                  <a:rPr lang="en-US" sz="1200" noProof="0" dirty="0"/>
                </a:br>
                <a:endParaRPr lang="en-US" sz="12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Optional: edit voxel data</a:t>
                </a:r>
                <a:br>
                  <a:rPr lang="en-US" sz="1000" noProof="0" dirty="0"/>
                </a:br>
                <a:r>
                  <a:rPr lang="en-US" sz="1000" noProof="0" dirty="0"/>
                  <a:t>For example, apply the empirical entropy correction  factor of 0.6.</a:t>
                </a:r>
                <a:br>
                  <a:rPr lang="en-US" sz="1000" noProof="0" dirty="0"/>
                </a:br>
                <a:endParaRPr lang="en-US" sz="10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en-US" sz="10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en-US" sz="10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en-US" sz="1200" noProof="0" dirty="0"/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Use “norm“ data to compare voxel to voxel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Use “dens“ data to integrate over voxels or for visualization purposes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endParaRPr lang="en-US" sz="1200" noProof="0" dirty="0"/>
              </a:p>
              <a:p>
                <a:endParaRPr lang="en-US" sz="1200" noProof="0" dirty="0"/>
              </a:p>
              <a:p>
                <a:r>
                  <a:rPr lang="en-US" sz="1200" b="1" noProof="0" dirty="0"/>
                  <a:t>4b. Visualization (optional)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If properties were modified or newly created, output density files for visualization</a:t>
                </a:r>
              </a:p>
              <a:p>
                <a:pPr marL="171450" indent="-171450">
                  <a:buFont typeface="Wingdings" panose="05000000000000000000" pitchFamily="2" charset="2"/>
                  <a:buChar char="q"/>
                </a:pPr>
                <a:r>
                  <a:rPr lang="en-US" sz="1200" noProof="0" dirty="0"/>
                  <a:t>Visualize .dx files</a:t>
                </a:r>
                <a:br>
                  <a:rPr lang="en-US" sz="1200" noProof="0" dirty="0"/>
                </a:br>
                <a:r>
                  <a:rPr lang="en-US" sz="1000" noProof="0" dirty="0"/>
                  <a:t>e.g. with PyMOL or VMD</a:t>
                </a:r>
              </a:p>
              <a:p>
                <a:endParaRPr lang="en-US" sz="1200" b="1" noProof="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05BFC50-3436-2A45-2879-285D74C36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6316" y="764495"/>
                <a:ext cx="2208520" cy="7536871"/>
              </a:xfrm>
              <a:prstGeom prst="rect">
                <a:avLst/>
              </a:prstGeom>
              <a:blipFill>
                <a:blip r:embed="rId2"/>
                <a:stretch>
                  <a:fillRect l="-276" r="-829"/>
                </a:stretch>
              </a:blipFill>
              <a:ln>
                <a:noFill/>
                <a:prstDash val="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D5B69AB-1E21-5563-06E7-502B612B37BD}"/>
              </a:ext>
            </a:extLst>
          </p:cNvPr>
          <p:cNvCxnSpPr>
            <a:cxnSpLocks/>
          </p:cNvCxnSpPr>
          <p:nvPr/>
        </p:nvCxnSpPr>
        <p:spPr>
          <a:xfrm>
            <a:off x="4656316" y="43127"/>
            <a:ext cx="8651" cy="10101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Parallelogram 2">
            <a:extLst>
              <a:ext uri="{FF2B5EF4-FFF2-40B4-BE49-F238E27FC236}">
                <a16:creationId xmlns:a16="http://schemas.microsoft.com/office/drawing/2014/main" id="{E23447FE-186F-CF51-6DC9-F99EFD05AF49}"/>
              </a:ext>
            </a:extLst>
          </p:cNvPr>
          <p:cNvSpPr/>
          <p:nvPr/>
        </p:nvSpPr>
        <p:spPr>
          <a:xfrm>
            <a:off x="1631157" y="255127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gist.dat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9EE4E430-2F01-F9B6-6AE3-988EB690D8B3}"/>
              </a:ext>
            </a:extLst>
          </p:cNvPr>
          <p:cNvSpPr/>
          <p:nvPr/>
        </p:nvSpPr>
        <p:spPr>
          <a:xfrm>
            <a:off x="82622" y="255127"/>
            <a:ext cx="1440000" cy="540000"/>
          </a:xfrm>
          <a:prstGeom prst="parallelogram">
            <a:avLst>
              <a:gd name="adj" fmla="val 384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gist.pdb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DAE670-9774-3BC6-CAEC-FECEAFE8CE41}"/>
              </a:ext>
            </a:extLst>
          </p:cNvPr>
          <p:cNvSpPr/>
          <p:nvPr/>
        </p:nvSpPr>
        <p:spPr>
          <a:xfrm>
            <a:off x="1447323" y="1248300"/>
            <a:ext cx="1800000" cy="540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Load with gisttools in python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98B5941-6B78-5C5C-4409-FB8982F019C9}"/>
                  </a:ext>
                </a:extLst>
              </p:cNvPr>
              <p:cNvSpPr/>
              <p:nvPr/>
            </p:nvSpPr>
            <p:spPr>
              <a:xfrm>
                <a:off x="1446940" y="2065255"/>
                <a:ext cx="1800000" cy="540000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noProof="0" dirty="0"/>
                  <a:t>Check convergence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000" b="0" i="0" noProof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𝑤𝑤</m:t>
                        </m:r>
                      </m:sub>
                    </m:sSub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000" b="0" i="0" noProof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𝑠𝑤</m:t>
                        </m:r>
                      </m:sub>
                    </m:sSub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m:rPr>
                        <m:sty m:val="p"/>
                      </m:rPr>
                      <a:rPr lang="en-US" sz="1000" b="0" i="0" noProof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000" b="0" i="1" noProof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sz="1000" b="0" i="0" noProof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1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000" b="0" i="1" noProof="0" smtClean="0">
                            <a:latin typeface="Cambria Math" panose="02040503050406030204" pitchFamily="18" charset="0"/>
                          </a:rPr>
                          <m:t>𝑠𝑜𝑙𝑣</m:t>
                        </m:r>
                      </m:sub>
                    </m:sSub>
                  </m:oMath>
                </a14:m>
                <a:endParaRPr lang="en-US" sz="1000" noProof="0" dirty="0"/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98B5941-6B78-5C5C-4409-FB8982F01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40" y="2065255"/>
                <a:ext cx="1800000" cy="540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Parallelogram 10">
                <a:extLst>
                  <a:ext uri="{FF2B5EF4-FFF2-40B4-BE49-F238E27FC236}">
                    <a16:creationId xmlns:a16="http://schemas.microsoft.com/office/drawing/2014/main" id="{C41EA413-9238-97A4-B814-2CB8A672AFB7}"/>
                  </a:ext>
                </a:extLst>
              </p:cNvPr>
              <p:cNvSpPr/>
              <p:nvPr/>
            </p:nvSpPr>
            <p:spPr>
              <a:xfrm>
                <a:off x="3091262" y="255127"/>
                <a:ext cx="1440000" cy="540000"/>
              </a:xfrm>
              <a:prstGeom prst="parallelogram">
                <a:avLst>
                  <a:gd name="adj" fmla="val 38406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b="0" noProof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𝑤𝑤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</m:oMath>
                  </m:oMathPara>
                </a14:m>
                <a:endParaRPr lang="en-US" sz="1200" b="0" noProof="0" dirty="0"/>
              </a:p>
              <a:p>
                <a:pPr algn="ctr"/>
                <a:endParaRPr lang="en-US" sz="1200" noProof="0" dirty="0"/>
              </a:p>
            </p:txBody>
          </p:sp>
        </mc:Choice>
        <mc:Fallback>
          <p:sp>
            <p:nvSpPr>
              <p:cNvPr id="11" name="Parallelogram 10">
                <a:extLst>
                  <a:ext uri="{FF2B5EF4-FFF2-40B4-BE49-F238E27FC236}">
                    <a16:creationId xmlns:a16="http://schemas.microsoft.com/office/drawing/2014/main" id="{C41EA413-9238-97A4-B814-2CB8A672AF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1262" y="255127"/>
                <a:ext cx="1440000" cy="540000"/>
              </a:xfrm>
              <a:prstGeom prst="parallelogram">
                <a:avLst>
                  <a:gd name="adj" fmla="val 38406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E7E038C7-66DE-836D-96CC-57A9C1EC74FE}"/>
              </a:ext>
            </a:extLst>
          </p:cNvPr>
          <p:cNvSpPr/>
          <p:nvPr/>
        </p:nvSpPr>
        <p:spPr>
          <a:xfrm>
            <a:off x="1451157" y="3111453"/>
            <a:ext cx="1800000" cy="54000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Converged?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15D9BE9-8B06-34DB-5D84-A76BA87D81C5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H="1" flipV="1">
            <a:off x="3246940" y="2335255"/>
            <a:ext cx="4217" cy="1046198"/>
          </a:xfrm>
          <a:prstGeom prst="bentConnector3">
            <a:avLst>
              <a:gd name="adj1" fmla="val -5420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EFEABD7D-1CF2-58EA-2E48-854E459BE97F}"/>
                  </a:ext>
                </a:extLst>
              </p:cNvPr>
              <p:cNvSpPr/>
              <p:nvPr/>
            </p:nvSpPr>
            <p:spPr>
              <a:xfrm>
                <a:off x="3263434" y="2498371"/>
                <a:ext cx="1330355" cy="745525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800" noProof="0" dirty="0"/>
                  <a:t>Common fixes:</a:t>
                </a:r>
                <a:br>
                  <a:rPr lang="en-US" sz="800" i="1" noProof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800" noProof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80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800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800" b="0" i="1" noProof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80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800" noProof="0" dirty="0"/>
                  <a:t> Change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</m:oMath>
                </a14:m>
                <a:endParaRPr lang="en-US" sz="800" noProof="0" dirty="0"/>
              </a:p>
              <a:p>
                <a14:m>
                  <m:oMath xmlns:m="http://schemas.openxmlformats.org/officeDocument/2006/math">
                    <m:r>
                      <a:rPr lang="en-US" sz="800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m:rPr>
                        <m:sty m:val="p"/>
                      </m:rPr>
                      <a:rPr lang="en-US" sz="800" b="0" i="0" noProof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800" b="0" i="1" noProof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b="0" i="1" noProof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de-AT" sz="800" b="0" i="0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800" noProof="0" dirty="0"/>
                  <a:t> reference entropy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800" b="0" i="0" noProof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800" b="0" i="1" noProof="0" smtClean="0">
                            <a:latin typeface="Cambria Math" panose="02040503050406030204" pitchFamily="18" charset="0"/>
                          </a:rPr>
                          <m:t>𝑠𝑤</m:t>
                        </m:r>
                      </m:sub>
                    </m:sSub>
                  </m:oMath>
                </a14:m>
                <a:r>
                  <a:rPr lang="en-US" sz="800" noProof="0" dirty="0"/>
                  <a:t>:  More  sampling</a:t>
                </a:r>
              </a:p>
            </p:txBody>
          </p:sp>
        </mc:Choice>
        <mc:Fallback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EFEABD7D-1CF2-58EA-2E48-854E459BE9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434" y="2498371"/>
                <a:ext cx="1330355" cy="74552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3CD0886E-6FA4-4697-8787-39580BEAC80D}"/>
              </a:ext>
            </a:extLst>
          </p:cNvPr>
          <p:cNvGrpSpPr/>
          <p:nvPr/>
        </p:nvGrpSpPr>
        <p:grpSpPr>
          <a:xfrm>
            <a:off x="389439" y="4796132"/>
            <a:ext cx="3894637" cy="540000"/>
            <a:chOff x="403839" y="4796132"/>
            <a:chExt cx="3894637" cy="540000"/>
          </a:xfrm>
        </p:grpSpPr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496038AE-B9FB-3EED-BF05-F2612FDF6955}"/>
                </a:ext>
              </a:extLst>
            </p:cNvPr>
            <p:cNvSpPr/>
            <p:nvPr/>
          </p:nvSpPr>
          <p:spPr>
            <a:xfrm>
              <a:off x="403839" y="4796132"/>
              <a:ext cx="1800000" cy="540000"/>
            </a:xfrm>
            <a:prstGeom prst="parallelogram">
              <a:avLst>
                <a:gd name="adj" fmla="val 38406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/>
                <a:t>"norm" data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60710878-223A-8BA4-28AD-3C7D46BD61E5}"/>
                </a:ext>
              </a:extLst>
            </p:cNvPr>
            <p:cNvSpPr/>
            <p:nvPr/>
          </p:nvSpPr>
          <p:spPr>
            <a:xfrm>
              <a:off x="2498476" y="4796132"/>
              <a:ext cx="1800000" cy="540000"/>
            </a:xfrm>
            <a:prstGeom prst="parallelogram">
              <a:avLst>
                <a:gd name="adj" fmla="val 38406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/>
                <a:t>"dens" data</a:t>
              </a:r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353D2A6-105C-3EA6-2B74-D2B0DB6130C8}"/>
              </a:ext>
            </a:extLst>
          </p:cNvPr>
          <p:cNvSpPr/>
          <p:nvPr/>
        </p:nvSpPr>
        <p:spPr>
          <a:xfrm>
            <a:off x="389439" y="5574929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Compare voxels on a per-solvent basis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50DA3C2-EF0E-7D45-D90E-038701494ADF}"/>
              </a:ext>
            </a:extLst>
          </p:cNvPr>
          <p:cNvSpPr/>
          <p:nvPr/>
        </p:nvSpPr>
        <p:spPr>
          <a:xfrm>
            <a:off x="2486328" y="5578179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Integrate over grid volumes to calculate thermodynamic data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D494E37-0728-B9F7-F544-94F161918A45}"/>
              </a:ext>
            </a:extLst>
          </p:cNvPr>
          <p:cNvSpPr/>
          <p:nvPr/>
        </p:nvSpPr>
        <p:spPr>
          <a:xfrm>
            <a:off x="1451157" y="6257359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Output .dx files</a:t>
            </a: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640CB19B-18A5-2FB8-F88F-8D247182663F}"/>
              </a:ext>
            </a:extLst>
          </p:cNvPr>
          <p:cNvSpPr/>
          <p:nvPr/>
        </p:nvSpPr>
        <p:spPr>
          <a:xfrm>
            <a:off x="2486328" y="8468375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Isosurfaces</a:t>
            </a:r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410DDF89-162D-03AE-626A-96EF03F8BC37}"/>
              </a:ext>
            </a:extLst>
          </p:cNvPr>
          <p:cNvSpPr/>
          <p:nvPr/>
        </p:nvSpPr>
        <p:spPr>
          <a:xfrm>
            <a:off x="389439" y="8527368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Volumes</a:t>
            </a:r>
          </a:p>
        </p:txBody>
      </p:sp>
      <p:sp>
        <p:nvSpPr>
          <p:cNvPr id="34" name="Parallelogram 33">
            <a:extLst>
              <a:ext uri="{FF2B5EF4-FFF2-40B4-BE49-F238E27FC236}">
                <a16:creationId xmlns:a16="http://schemas.microsoft.com/office/drawing/2014/main" id="{44F52B61-7519-E56A-3D0F-46C5043C695D}"/>
              </a:ext>
            </a:extLst>
          </p:cNvPr>
          <p:cNvSpPr/>
          <p:nvPr/>
        </p:nvSpPr>
        <p:spPr>
          <a:xfrm>
            <a:off x="389439" y="9259173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Mesh grids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5269F-0D72-4F34-38CD-B13E91A2F241}"/>
              </a:ext>
            </a:extLst>
          </p:cNvPr>
          <p:cNvSpPr/>
          <p:nvPr/>
        </p:nvSpPr>
        <p:spPr>
          <a:xfrm>
            <a:off x="1451157" y="7024846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Load .dx files into visualization software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14E3683-B5EA-6401-F44B-7FABB0A06C26}"/>
              </a:ext>
            </a:extLst>
          </p:cNvPr>
          <p:cNvSpPr/>
          <p:nvPr/>
        </p:nvSpPr>
        <p:spPr>
          <a:xfrm>
            <a:off x="1451157" y="7776107"/>
            <a:ext cx="1800000" cy="54000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Visualize thermodynamic densities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1ED014B-02DE-FC2A-DF7A-B020085A9E29}"/>
              </a:ext>
            </a:extLst>
          </p:cNvPr>
          <p:cNvSpPr/>
          <p:nvPr/>
        </p:nvSpPr>
        <p:spPr>
          <a:xfrm>
            <a:off x="321849" y="3811236"/>
            <a:ext cx="1179511" cy="540000"/>
          </a:xfrm>
          <a:prstGeom prst="round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Edit voxel data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53EA0AF-B86B-AF44-1FC9-8026B622109F}"/>
              </a:ext>
            </a:extLst>
          </p:cNvPr>
          <p:cNvCxnSpPr>
            <a:stCxn id="6" idx="4"/>
            <a:endCxn id="7" idx="1"/>
          </p:cNvCxnSpPr>
          <p:nvPr/>
        </p:nvCxnSpPr>
        <p:spPr>
          <a:xfrm rot="16200000" flipH="1">
            <a:off x="763386" y="834362"/>
            <a:ext cx="723173" cy="64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82DC6ED8-89E5-AE05-C618-A670F9F56B63}"/>
              </a:ext>
            </a:extLst>
          </p:cNvPr>
          <p:cNvCxnSpPr>
            <a:stCxn id="11" idx="4"/>
            <a:endCxn id="7" idx="3"/>
          </p:cNvCxnSpPr>
          <p:nvPr/>
        </p:nvCxnSpPr>
        <p:spPr>
          <a:xfrm rot="5400000">
            <a:off x="3167707" y="874744"/>
            <a:ext cx="723173" cy="5639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C92DE68-5555-C83E-F69B-7F301BE2FA01}"/>
              </a:ext>
            </a:extLst>
          </p:cNvPr>
          <p:cNvCxnSpPr>
            <a:stCxn id="12" idx="2"/>
            <a:endCxn id="18" idx="0"/>
          </p:cNvCxnSpPr>
          <p:nvPr/>
        </p:nvCxnSpPr>
        <p:spPr>
          <a:xfrm rot="5400000">
            <a:off x="1247959" y="3692933"/>
            <a:ext cx="1144679" cy="1061718"/>
          </a:xfrm>
          <a:prstGeom prst="bentConnector3">
            <a:avLst>
              <a:gd name="adj1" fmla="val 889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0B31DDB-A15B-BBF4-CD12-0A357A2294BE}"/>
              </a:ext>
            </a:extLst>
          </p:cNvPr>
          <p:cNvCxnSpPr>
            <a:stCxn id="12" idx="2"/>
            <a:endCxn id="24" idx="0"/>
          </p:cNvCxnSpPr>
          <p:nvPr/>
        </p:nvCxnSpPr>
        <p:spPr>
          <a:xfrm rot="16200000" flipH="1">
            <a:off x="2295277" y="3707332"/>
            <a:ext cx="1144679" cy="1032919"/>
          </a:xfrm>
          <a:prstGeom prst="bentConnector3">
            <a:avLst>
              <a:gd name="adj1" fmla="val 889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6ED24A1-E000-7E5A-9E74-A2FA0F8FE240}"/>
              </a:ext>
            </a:extLst>
          </p:cNvPr>
          <p:cNvCxnSpPr>
            <a:cxnSpLocks/>
            <a:stCxn id="24" idx="5"/>
            <a:endCxn id="31" idx="0"/>
          </p:cNvCxnSpPr>
          <p:nvPr/>
        </p:nvCxnSpPr>
        <p:spPr>
          <a:xfrm rot="10800000" flipV="1">
            <a:off x="2351158" y="5066131"/>
            <a:ext cx="236615" cy="1191227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BBDA1EB0-23A3-3E3C-608F-89BAFE577C73}"/>
              </a:ext>
            </a:extLst>
          </p:cNvPr>
          <p:cNvCxnSpPr>
            <a:stCxn id="36" idx="1"/>
            <a:endCxn id="33" idx="0"/>
          </p:cNvCxnSpPr>
          <p:nvPr/>
        </p:nvCxnSpPr>
        <p:spPr>
          <a:xfrm rot="10800000" flipV="1">
            <a:off x="1289439" y="8046106"/>
            <a:ext cx="161718" cy="481261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5416F4F-2083-CC85-453F-BC695F5491CB}"/>
              </a:ext>
            </a:extLst>
          </p:cNvPr>
          <p:cNvCxnSpPr>
            <a:stCxn id="36" idx="2"/>
            <a:endCxn id="34" idx="2"/>
          </p:cNvCxnSpPr>
          <p:nvPr/>
        </p:nvCxnSpPr>
        <p:spPr>
          <a:xfrm rot="5400000">
            <a:off x="1611917" y="8789933"/>
            <a:ext cx="1213066" cy="265414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7C15F2D9-2220-2901-40E9-7841D3EEF500}"/>
              </a:ext>
            </a:extLst>
          </p:cNvPr>
          <p:cNvCxnSpPr>
            <a:stCxn id="36" idx="3"/>
            <a:endCxn id="32" idx="0"/>
          </p:cNvCxnSpPr>
          <p:nvPr/>
        </p:nvCxnSpPr>
        <p:spPr>
          <a:xfrm>
            <a:off x="3251157" y="8046107"/>
            <a:ext cx="135171" cy="422268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99C50C8-5305-5E51-532A-0918D0540D1A}"/>
              </a:ext>
            </a:extLst>
          </p:cNvPr>
          <p:cNvCxnSpPr>
            <a:stCxn id="35" idx="2"/>
            <a:endCxn id="36" idx="0"/>
          </p:cNvCxnSpPr>
          <p:nvPr/>
        </p:nvCxnSpPr>
        <p:spPr>
          <a:xfrm>
            <a:off x="2351157" y="7564846"/>
            <a:ext cx="0" cy="2112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A33AB37-C8E3-0F6E-2649-9C1AC8964A35}"/>
              </a:ext>
            </a:extLst>
          </p:cNvPr>
          <p:cNvCxnSpPr>
            <a:stCxn id="31" idx="2"/>
            <a:endCxn id="35" idx="0"/>
          </p:cNvCxnSpPr>
          <p:nvPr/>
        </p:nvCxnSpPr>
        <p:spPr>
          <a:xfrm>
            <a:off x="2351157" y="6797359"/>
            <a:ext cx="0" cy="22748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ADB2F69-12D1-F2EE-DCF5-3BE1C4D56D1B}"/>
              </a:ext>
            </a:extLst>
          </p:cNvPr>
          <p:cNvCxnSpPr>
            <a:cxnSpLocks/>
            <a:stCxn id="18" idx="4"/>
            <a:endCxn id="28" idx="0"/>
          </p:cNvCxnSpPr>
          <p:nvPr/>
        </p:nvCxnSpPr>
        <p:spPr>
          <a:xfrm>
            <a:off x="1289439" y="5336132"/>
            <a:ext cx="0" cy="2387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C29B112-0846-A860-7C92-1602153892E0}"/>
              </a:ext>
            </a:extLst>
          </p:cNvPr>
          <p:cNvCxnSpPr>
            <a:cxnSpLocks/>
            <a:stCxn id="24" idx="4"/>
            <a:endCxn id="30" idx="0"/>
          </p:cNvCxnSpPr>
          <p:nvPr/>
        </p:nvCxnSpPr>
        <p:spPr>
          <a:xfrm>
            <a:off x="3384076" y="5336132"/>
            <a:ext cx="2252" cy="2420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DAD5B74-9504-62D8-5B3A-42AF4A814559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346940" y="1788300"/>
            <a:ext cx="383" cy="276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7AFDEDF-7FDB-7ADA-A782-DD39761E78FB}"/>
              </a:ext>
            </a:extLst>
          </p:cNvPr>
          <p:cNvCxnSpPr>
            <a:stCxn id="8" idx="2"/>
            <a:endCxn id="12" idx="0"/>
          </p:cNvCxnSpPr>
          <p:nvPr/>
        </p:nvCxnSpPr>
        <p:spPr>
          <a:xfrm>
            <a:off x="2346940" y="2605255"/>
            <a:ext cx="4217" cy="506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BCFECB3-D7C9-350E-FFFC-F225AE2338FC}"/>
              </a:ext>
            </a:extLst>
          </p:cNvPr>
          <p:cNvCxnSpPr>
            <a:stCxn id="3" idx="4"/>
            <a:endCxn id="7" idx="0"/>
          </p:cNvCxnSpPr>
          <p:nvPr/>
        </p:nvCxnSpPr>
        <p:spPr>
          <a:xfrm flipH="1">
            <a:off x="2347323" y="795127"/>
            <a:ext cx="3834" cy="453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D6276E1-7CB8-C90E-E4E0-03936AF48EDA}"/>
              </a:ext>
            </a:extLst>
          </p:cNvPr>
          <p:cNvGrpSpPr/>
          <p:nvPr/>
        </p:nvGrpSpPr>
        <p:grpSpPr>
          <a:xfrm>
            <a:off x="1591872" y="3954297"/>
            <a:ext cx="668773" cy="246221"/>
            <a:chOff x="1631157" y="3792565"/>
            <a:chExt cx="668773" cy="246221"/>
          </a:xfrm>
        </p:grpSpPr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FCC0B82B-E9A7-682E-0AAC-107D052A38F4}"/>
                </a:ext>
              </a:extLst>
            </p:cNvPr>
            <p:cNvCxnSpPr>
              <a:cxnSpLocks/>
            </p:cNvCxnSpPr>
            <p:nvPr/>
          </p:nvCxnSpPr>
          <p:spPr>
            <a:xfrm>
              <a:off x="1695543" y="4023703"/>
              <a:ext cx="540000" cy="0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E3F3779D-6C06-EF1F-07FB-7E77341422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5543" y="3807648"/>
              <a:ext cx="540000" cy="0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5CCA44-9DE0-9F65-9333-593216F32F4F}"/>
                </a:ext>
              </a:extLst>
            </p:cNvPr>
            <p:cNvSpPr txBox="1"/>
            <p:nvPr/>
          </p:nvSpPr>
          <p:spPr>
            <a:xfrm>
              <a:off x="1631157" y="3792565"/>
              <a:ext cx="6687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noProof="0" dirty="0"/>
                <a:t>optional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80CBC351-8F08-6A2D-DB5E-F34C33F3F315}"/>
              </a:ext>
            </a:extLst>
          </p:cNvPr>
          <p:cNvSpPr txBox="1"/>
          <p:nvPr/>
        </p:nvSpPr>
        <p:spPr>
          <a:xfrm>
            <a:off x="2294609" y="3583850"/>
            <a:ext cx="383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noProof="0" dirty="0"/>
              <a:t>yes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FD1016-B42E-C8D3-8E74-43F8E9B17B66}"/>
              </a:ext>
            </a:extLst>
          </p:cNvPr>
          <p:cNvSpPr txBox="1"/>
          <p:nvPr/>
        </p:nvSpPr>
        <p:spPr>
          <a:xfrm>
            <a:off x="3159231" y="3372086"/>
            <a:ext cx="3321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noProof="0" dirty="0"/>
              <a:t>no</a:t>
            </a:r>
          </a:p>
        </p:txBody>
      </p:sp>
      <p:sp>
        <p:nvSpPr>
          <p:cNvPr id="103" name="Parallelogram 102">
            <a:extLst>
              <a:ext uri="{FF2B5EF4-FFF2-40B4-BE49-F238E27FC236}">
                <a16:creationId xmlns:a16="http://schemas.microsoft.com/office/drawing/2014/main" id="{BA8C1E40-0A51-1DDD-CB0E-FF0F4A8E32AC}"/>
              </a:ext>
            </a:extLst>
          </p:cNvPr>
          <p:cNvSpPr/>
          <p:nvPr/>
        </p:nvSpPr>
        <p:spPr>
          <a:xfrm>
            <a:off x="2513306" y="9259173"/>
            <a:ext cx="1800000" cy="540000"/>
          </a:xfrm>
          <a:prstGeom prst="parallelogram">
            <a:avLst>
              <a:gd name="adj" fmla="val 38406"/>
            </a:avLst>
          </a:prstGeom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/>
              <a:t>Isodots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74B8736-3626-AA31-6D98-443E3764C6FA}"/>
              </a:ext>
            </a:extLst>
          </p:cNvPr>
          <p:cNvCxnSpPr>
            <a:cxnSpLocks/>
            <a:stCxn id="18" idx="2"/>
            <a:endCxn id="31" idx="0"/>
          </p:cNvCxnSpPr>
          <p:nvPr/>
        </p:nvCxnSpPr>
        <p:spPr>
          <a:xfrm>
            <a:off x="2085743" y="5066132"/>
            <a:ext cx="265414" cy="1191227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4B899A91-AA27-58C5-BA9A-DC281AA49514}"/>
              </a:ext>
            </a:extLst>
          </p:cNvPr>
          <p:cNvCxnSpPr>
            <a:cxnSpLocks/>
            <a:stCxn id="36" idx="2"/>
            <a:endCxn id="103" idx="5"/>
          </p:cNvCxnSpPr>
          <p:nvPr/>
        </p:nvCxnSpPr>
        <p:spPr>
          <a:xfrm rot="16200000" flipH="1">
            <a:off x="1877546" y="8789717"/>
            <a:ext cx="1213066" cy="265845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672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530</Words>
  <Application>Microsoft Office PowerPoint</Application>
  <PresentationFormat>A4 Paper (210x297 mm)</PresentationFormat>
  <Paragraphs>82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LMMono8-Regular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 Jakob Hörschinger</dc:creator>
  <cp:lastModifiedBy>Valentin Jakob Hörschinger</cp:lastModifiedBy>
  <cp:revision>31</cp:revision>
  <dcterms:created xsi:type="dcterms:W3CDTF">2025-01-13T12:25:47Z</dcterms:created>
  <dcterms:modified xsi:type="dcterms:W3CDTF">2025-07-16T15:03:59Z</dcterms:modified>
</cp:coreProperties>
</file>